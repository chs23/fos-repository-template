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14600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45720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FB8CC"/>
                </a:solidFill>
                <a:latin typeface="Aptos"/>
              </a:rPr>
              <a:t>ПРЕПОДАВАНИЕ СОВРЕМЕННОГО ИИ НА ТОП-УРОВНЕ: СИСТЕМНОЕ ВИДЕНИЕ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868680"/>
            <a:ext cx="105156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Aptos Display"/>
              </a:rPr>
              <a:t>Системная инженерия для систем
искусственного интеллекта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2996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 i="0">
                <a:solidFill>
                  <a:srgbClr val="E97132"/>
                </a:solidFill>
                <a:latin typeface="Aptos"/>
              </a:rPr>
              <a:t>Фонд оценочных средств · защита проекта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852928"/>
            <a:ext cx="2606040" cy="841248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852928"/>
            <a:ext cx="44450" cy="8412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29900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2841"/>
                </a:solidFill>
                <a:latin typeface="Aptos"/>
              </a:rPr>
              <a:t>144 а.ч.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331927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Aptos"/>
              </a:rPr>
              <a:t>4 зачётные единицы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84448" y="2852928"/>
            <a:ext cx="2606040" cy="841248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84448" y="2852928"/>
            <a:ext cx="44450" cy="8412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85616" y="29900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2841"/>
                </a:solidFill>
                <a:latin typeface="Aptos"/>
              </a:rPr>
              <a:t>5 семестр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85616" y="331927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Aptos"/>
              </a:rPr>
              <a:t>бакалавриат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45936" y="2852928"/>
            <a:ext cx="2606040" cy="841248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45936" y="2852928"/>
            <a:ext cx="44450" cy="8412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29900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2841"/>
                </a:solidFill>
                <a:latin typeface="Aptos"/>
              </a:rPr>
              <a:t>AI-PM · ML Engineer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331927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Aptos"/>
              </a:rPr>
              <a:t>целевые роли КРМ 3.0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07424" y="2852928"/>
            <a:ext cx="2606040" cy="841248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07424" y="2852928"/>
            <a:ext cx="44450" cy="841248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08592" y="29900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0E2841"/>
                </a:solidFill>
                <a:latin typeface="Aptos"/>
              </a:rPr>
              <a:t>11 индикаторов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08592" y="3319272"/>
            <a:ext cx="22860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Aptos"/>
              </a:rPr>
              <a:t>КРМ версии 3.0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39319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56082"/>
                </a:solidFill>
                <a:latin typeface="Aptos"/>
              </a:rPr>
              <a:t>КОМАНДА РАЗРАБОТКИ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4315968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E2841"/>
                </a:solidFill>
                <a:latin typeface="Aptos"/>
              </a:rPr>
              <a:t>· Скоробогатченко Д. А.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4315968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E2841"/>
                </a:solidFill>
                <a:latin typeface="Aptos"/>
              </a:rPr>
              <a:t>· Долженкова М. Л.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4315968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E2841"/>
                </a:solidFill>
                <a:latin typeface="Aptos"/>
              </a:rPr>
              <a:t>· Кирчанова Е. Е.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700016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E2841"/>
                </a:solidFill>
                <a:latin typeface="Aptos"/>
              </a:rPr>
              <a:t>· Тягунов А. Г.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89120" y="4700016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E2841"/>
                </a:solidFill>
                <a:latin typeface="Aptos"/>
              </a:rPr>
              <a:t>· Кукарцев В. В.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80" y="4700016"/>
            <a:ext cx="33832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0E2841"/>
                </a:solidFill>
                <a:latin typeface="Aptos"/>
              </a:rPr>
              <a:t>· Тарасов Д. А.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22960" y="5440680"/>
            <a:ext cx="10543032" cy="685800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" y="56052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2841"/>
                </a:solidFill>
                <a:latin typeface="Aptos"/>
              </a:rPr>
              <a:t>Репозиторий ФОС:  </a:t>
            </a:r>
            <a:r>
              <a:rPr sz="1200" b="0" i="0">
                <a:solidFill>
                  <a:srgbClr val="156082"/>
                </a:solidFill>
                <a:latin typeface="Aptos"/>
              </a:rPr>
              <a:t>github.com/Skorobogatchenko2004/fos-repository-42-team</a:t>
            </a:r>
            <a:r>
              <a:rPr sz="1200" b="0" i="0">
                <a:solidFill>
                  <a:srgbClr val="595959"/>
                </a:solidFill>
                <a:latin typeface="Aptos"/>
              </a:rPr>
              <a:t>   ·   лицензия CC BY 4.0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058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"/>
              </a:rPr>
              <a:t>Преподавание современного ИИ на топ-уровне: системное видение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12801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E2841"/>
                </a:solidFill>
                <a:latin typeface="Aptos Display"/>
              </a:rPr>
              <a:t>Актуальность и целеполагание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89888"/>
            <a:ext cx="1371600" cy="381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5532120" cy="2057400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97132"/>
                </a:solidFill>
                <a:latin typeface="Aptos"/>
              </a:rPr>
              <a:t>ПРОБЛЕМА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50749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56082"/>
                </a:solidFill>
                <a:latin typeface="Aptos"/>
              </a:rPr>
              <a:t>— </a:t>
            </a:r>
            <a:r>
              <a:rPr sz="1200" b="0" i="0">
                <a:solidFill>
                  <a:srgbClr val="0E2841"/>
                </a:solidFill>
                <a:latin typeface="Aptos"/>
              </a:rPr>
              <a:t>промышленные ИИ-системы отказывают не в коде, а в постановке задачи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56082"/>
                </a:solidFill>
                <a:latin typeface="Aptos"/>
              </a:rPr>
              <a:t>— </a:t>
            </a:r>
            <a:r>
              <a:rPr sz="1200" b="0" i="0">
                <a:solidFill>
                  <a:srgbClr val="0E2841"/>
                </a:solidFill>
                <a:latin typeface="Aptos"/>
              </a:rPr>
              <a:t>требования к данным, дрейфу, деградации и недетерминизму не описываются как обычные требования к ПО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56082"/>
                </a:solidFill>
                <a:latin typeface="Aptos"/>
              </a:rPr>
              <a:t>— </a:t>
            </a:r>
            <a:r>
              <a:rPr sz="1200" b="0" i="0">
                <a:solidFill>
                  <a:srgbClr val="0E2841"/>
                </a:solidFill>
                <a:latin typeface="Aptos"/>
              </a:rPr>
              <a:t>агенты подняли цену нечёткой постановки: неясная задача + автономность = дорогой, но архитектурно слабый результат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91640"/>
            <a:ext cx="5394960" cy="2057400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847088"/>
            <a:ext cx="49377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E97132"/>
                </a:solidFill>
                <a:latin typeface="Aptos"/>
              </a:rPr>
              <a:t>ДЛЯ КОГО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94560"/>
            <a:ext cx="493776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 i="0">
                <a:solidFill>
                  <a:srgbClr val="156082"/>
                </a:solidFill>
                <a:latin typeface="Aptos"/>
              </a:rPr>
              <a:t>— </a:t>
            </a:r>
            <a:r>
              <a:rPr sz="1200" b="0" i="0">
                <a:solidFill>
                  <a:srgbClr val="0E2841"/>
                </a:solidFill>
                <a:latin typeface="Aptos"/>
              </a:rPr>
              <a:t>бакалавры 5 семестра, роли AI-PM и ML Engineer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56082"/>
                </a:solidFill>
                <a:latin typeface="Aptos"/>
              </a:rPr>
              <a:t>— </a:t>
            </a:r>
            <a:r>
              <a:rPr sz="1200" b="0" i="0">
                <a:solidFill>
                  <a:srgbClr val="0E2841"/>
                </a:solidFill>
                <a:latin typeface="Aptos"/>
              </a:rPr>
              <a:t>интегрирующая дисциплина профессионального цикла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56082"/>
                </a:solidFill>
                <a:latin typeface="Aptos"/>
              </a:rPr>
              <a:t>— </a:t>
            </a:r>
            <a:r>
              <a:rPr sz="1200" b="0" i="0">
                <a:solidFill>
                  <a:srgbClr val="0E2841"/>
                </a:solidFill>
                <a:latin typeface="Aptos"/>
              </a:rPr>
              <a:t>пререквизиты: программирование, управление данными, основы ИИ</a:t>
            </a:r>
          </a:p>
          <a:p>
            <a:pPr>
              <a:spcAft>
                <a:spcPts val="600"/>
              </a:spcAft>
            </a:pPr>
            <a:r>
              <a:rPr sz="1200" b="1" i="0">
                <a:solidFill>
                  <a:srgbClr val="156082"/>
                </a:solidFill>
                <a:latin typeface="Aptos"/>
              </a:rPr>
              <a:t>— </a:t>
            </a:r>
            <a:r>
              <a:rPr sz="1200" b="0" i="0">
                <a:solidFill>
                  <a:srgbClr val="0E2841"/>
                </a:solidFill>
                <a:latin typeface="Aptos"/>
              </a:rPr>
              <a:t>постреквизиты: архитектура ИИ, MLOps, промышленная разработка, ВКР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77639"/>
            <a:ext cx="111556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56082"/>
                </a:solidFill>
                <a:latin typeface="Aptos"/>
              </a:rPr>
              <a:t>ЧТО ОРИГИНАЛЬНОГО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34340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343400"/>
            <a:ext cx="2697480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49884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2841"/>
                </a:solidFill>
                <a:latin typeface="Aptos"/>
              </a:rPr>
              <a:t>Инженерия, а не ML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992624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Aptos"/>
              </a:rPr>
              <a:t>не курс моделей: жизненный цикл, требования, архитектура, приёмка ИИ-систем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19272" y="434340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19272" y="4343400"/>
            <a:ext cx="2697480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02152" y="449884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2841"/>
                </a:solidFill>
                <a:latin typeface="Aptos"/>
              </a:rPr>
              <a:t>Платформа и угрозы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02152" y="4992624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Aptos"/>
              </a:rPr>
              <a:t>вычислительные ограничения (HPC) и безопасность ИИ (AI S) — редко в бакалавриате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35624" y="434340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35624" y="4343400"/>
            <a:ext cx="2697480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18504" y="449884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2841"/>
                </a:solidFill>
                <a:latin typeface="Aptos"/>
              </a:rPr>
              <a:t>Оценивание против генерации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18504" y="4992624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Aptos"/>
              </a:rPr>
              <a:t>вес перенесён на то, что LLM не сделает за студента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951976" y="434340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951976" y="4343400"/>
            <a:ext cx="2697480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34856" y="4498848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2841"/>
                </a:solidFill>
                <a:latin typeface="Aptos"/>
              </a:rPr>
              <a:t>ФОС как цифровой продукт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34856" y="4992624"/>
            <a:ext cx="237744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Aptos"/>
              </a:rPr>
              <a:t>всё как код, автопроверка согласованности в CI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943600"/>
            <a:ext cx="11155680" cy="71323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6053328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97132"/>
                </a:solidFill>
                <a:latin typeface="Aptos"/>
              </a:rPr>
              <a:t>Ключевой тезис:  </a:t>
            </a:r>
            <a:r>
              <a:rPr sz="1300" b="0" i="0">
                <a:solidFill>
                  <a:srgbClr val="FFFFFF"/>
                </a:solidFill>
                <a:latin typeface="Aptos"/>
              </a:rPr>
              <a:t>чем автономнее инструмент, тем дороже обходится нечёткая постановка задачи — системная инженерия дорожает, а не обесценивается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058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"/>
              </a:rPr>
              <a:t>Преподавание современного ИИ на топ-уровне: системное видение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12801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E2841"/>
                </a:solidFill>
                <a:latin typeface="Aptos Display"/>
              </a:rPr>
              <a:t>Состав и содержание программы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89888"/>
            <a:ext cx="1371600" cy="381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645920"/>
          <a:ext cx="11155680" cy="37856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548640"/>
                <a:gridCol w="3657600"/>
                <a:gridCol w="2651760"/>
                <a:gridCol w="15544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ptos"/>
                        </a:rPr>
                        <a:t>Модуль</a:t>
                      </a:r>
                    </a:p>
                  </a:txBody>
                  <a:tcPr marL="73152" marR="54864" marT="27432" marB="27432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ptos"/>
                        </a:rPr>
                        <a:t>а.ч.</a:t>
                      </a:r>
                    </a:p>
                  </a:txBody>
                  <a:tcPr marL="73152" marR="54864" marT="27432" marB="27432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ptos"/>
                        </a:rPr>
                        <a:t>Ключевое содержание</a:t>
                      </a:r>
                    </a:p>
                  </a:txBody>
                  <a:tcPr marL="73152" marR="54864" marT="27432" marB="27432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ptos"/>
                        </a:rPr>
                        <a:t>Индикаторы КРМ 3.0</a:t>
                      </a:r>
                    </a:p>
                  </a:txBody>
                  <a:tcPr marL="73152" marR="54864" marT="27432" marB="27432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 i="0">
                          <a:solidFill>
                            <a:srgbClr val="FFFFFF"/>
                          </a:solidFill>
                          <a:latin typeface="Aptos"/>
                        </a:rPr>
                        <a:t>КИМ</a:t>
                      </a:r>
                    </a:p>
                  </a:txBody>
                  <a:tcPr marL="73152" marR="54864" marT="27432" marB="27432" anchor="ctr">
                    <a:solidFill>
                      <a:srgbClr val="0E2841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М1. Введение в системную инженерию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16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ЖЦ ИИ-систем vs ЖЦ ПО, стандарты, анализ применимости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ОПК-4.1, LC-1.1, LC-4.1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КИМ-1.5
Feasibility Study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М2. Управление требованиями</a:t>
                      </a:r>
                    </a:p>
                  </a:txBody>
                  <a:tcPr marL="73152" marR="54864" marT="27432" marB="27432" anchor="ctr">
                    <a:solidFill>
                      <a:srgbClr val="EF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20</a:t>
                      </a:r>
                    </a:p>
                  </a:txBody>
                  <a:tcPr marL="73152" marR="54864" marT="27432" marB="27432" anchor="ctr">
                    <a:solidFill>
                      <a:srgbClr val="EF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SRS по 29148, требования к данным и дрейфу, трассируемость, изменения</a:t>
                      </a:r>
                    </a:p>
                  </a:txBody>
                  <a:tcPr marL="73152" marR="54864" marT="27432" marB="27432" anchor="ctr">
                    <a:solidFill>
                      <a:srgbClr val="EF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LC-1.1, LC-1.2, LC-1.3</a:t>
                      </a:r>
                    </a:p>
                  </a:txBody>
                  <a:tcPr marL="73152" marR="54864" marT="27432" marB="27432" anchor="ctr">
                    <a:solidFill>
                      <a:srgbClr val="EF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КИМ-2.5
ТЗ + анализ влияния</a:t>
                      </a:r>
                    </a:p>
                  </a:txBody>
                  <a:tcPr marL="73152" marR="54864" marT="27432" marB="27432" anchor="ctr">
                    <a:solidFill>
                      <a:srgbClr val="EFF3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М3. Архитектура систем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22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C4 и ADR, MBSE, вычислительная платформа, безопасная архитектура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LC-3.1, LC-1.2, ОПК-4.1,
HPC-1.1, HPC-2.1, AI S-3.2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КИМ-3.5
ML System Design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М4. Качество, безопасность,
сопровождение</a:t>
                      </a:r>
                    </a:p>
                  </a:txBody>
                  <a:tcPr marL="73152" marR="54864" marT="27432" marB="27432" anchor="ctr">
                    <a:solidFill>
                      <a:srgbClr val="EF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22</a:t>
                      </a:r>
                    </a:p>
                  </a:txBody>
                  <a:tcPr marL="73152" marR="54864" marT="27432" marB="27432" anchor="ctr">
                    <a:solidFill>
                      <a:srgbClr val="EF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V&amp;V, качество данных и дрейф, MLOps, модель угроз и атаки на ИИ</a:t>
                      </a:r>
                    </a:p>
                  </a:txBody>
                  <a:tcPr marL="73152" marR="54864" marT="27432" marB="27432" anchor="ctr">
                    <a:solidFill>
                      <a:srgbClr val="EF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LC-3.1, LC-4.1,
AI S-1.1, AI S-2.1</a:t>
                      </a:r>
                    </a:p>
                  </a:txBody>
                  <a:tcPr marL="73152" marR="54864" marT="27432" marB="27432" anchor="ctr">
                    <a:solidFill>
                      <a:srgbClr val="EF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КИМ-4.5
приёмка модели</a:t>
                      </a:r>
                    </a:p>
                  </a:txBody>
                  <a:tcPr marL="73152" marR="54864" marT="27432" marB="27432" anchor="ctr">
                    <a:solidFill>
                      <a:srgbClr val="EFF3F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Проектная работа (командная)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40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полный комплект проектной документации + приёмка чужой модели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все индикаторы дисциплины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Проект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Экзамен</a:t>
                      </a:r>
                    </a:p>
                  </a:txBody>
                  <a:tcPr marL="73152" marR="54864" marT="27432" marB="27432" anchor="ctr">
                    <a:solidFill>
                      <a:srgbClr val="EF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8</a:t>
                      </a:r>
                    </a:p>
                  </a:txBody>
                  <a:tcPr marL="73152" marR="54864" marT="27432" marB="27432" anchor="ctr">
                    <a:solidFill>
                      <a:srgbClr val="EF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защита проекта + теоретическая часть по билетам</a:t>
                      </a:r>
                    </a:p>
                  </a:txBody>
                  <a:tcPr marL="73152" marR="54864" marT="27432" marB="27432" anchor="ctr">
                    <a:solidFill>
                      <a:srgbClr val="EF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все индикаторы дисциплины</a:t>
                      </a:r>
                    </a:p>
                  </a:txBody>
                  <a:tcPr marL="73152" marR="54864" marT="27432" marB="27432" anchor="ctr">
                    <a:solidFill>
                      <a:srgbClr val="EF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Экзамен</a:t>
                      </a:r>
                    </a:p>
                  </a:txBody>
                  <a:tcPr marL="73152" marR="54864" marT="27432" marB="27432" anchor="ctr">
                    <a:solidFill>
                      <a:srgbClr val="EFF3F6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852160"/>
            <a:ext cx="11155680" cy="658368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2841"/>
                </a:solidFill>
                <a:latin typeface="Aptos"/>
              </a:rPr>
              <a:t>Оригинальность прослеживается в содержании: </a:t>
            </a:r>
            <a:r>
              <a:rPr sz="1200" b="0" i="0">
                <a:solidFill>
                  <a:srgbClr val="595959"/>
                </a:solidFill>
                <a:latin typeface="Aptos"/>
              </a:rPr>
              <a:t>занятие 3.4 «Вычислительная платформа и ограничения развёртывания» (GPU / краевые вычислители / TinyML, латентность, память, энергопотребление) и занятие 4.4 «Безопасность систем ИИ» (отравление данных, состязательные атаки, кража модели через API, STRIDE и MITRE ATLAS)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058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"/>
              </a:rPr>
              <a:t>Преподавание современного ИИ на топ-уровне: системное видение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12801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E2841"/>
                </a:solidFill>
                <a:latin typeface="Aptos Display"/>
              </a:rPr>
              <a:t>Организация системы оценивания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89888"/>
            <a:ext cx="1371600" cy="381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11155680" cy="566928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764792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E97132"/>
                </a:solidFill>
                <a:latin typeface="Aptos"/>
              </a:rPr>
              <a:t>Все артефакты дисциплины — документы. </a:t>
            </a:r>
            <a:r>
              <a:rPr sz="1300" b="0" i="0">
                <a:solidFill>
                  <a:srgbClr val="FFFFFF"/>
                </a:solidFill>
                <a:latin typeface="Aptos"/>
              </a:rPr>
              <a:t>Это ровно то, что генеративная модель делает за минуты: задание «разработайте ТЗ» проверяет умение писать промпт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43230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56082"/>
                </a:solidFill>
                <a:latin typeface="Aptos"/>
              </a:rPr>
              <a:t>ТРИ КОНТУРА ПРОВЕРКИ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88920"/>
            <a:ext cx="5486400" cy="868680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788920"/>
            <a:ext cx="50800" cy="86868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889504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E2841"/>
                </a:solidFill>
                <a:latin typeface="Aptos"/>
              </a:rPr>
              <a:t>1. Машинный — допуск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191256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Aptos"/>
              </a:rPr>
              <a:t>CI: разделы, идентификаторы, трассируемость, декларация ИИ. Вес 0: не прошло — не читаем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776472"/>
            <a:ext cx="5486400" cy="868680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3776472"/>
            <a:ext cx="50800" cy="86868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877056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E2841"/>
                </a:solidFill>
                <a:latin typeface="Aptos"/>
              </a:rPr>
              <a:t>2. Экспертный — содержание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178808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Aptos"/>
              </a:rPr>
              <a:t>преподаватель и пир-ревью: обоснованность, специфика ИИ-систем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764024"/>
            <a:ext cx="5486400" cy="868680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" y="4764024"/>
            <a:ext cx="50800" cy="86868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486460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0E2841"/>
                </a:solidFill>
                <a:latin typeface="Aptos"/>
              </a:rPr>
              <a:t>3. Защита — понимание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166360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Aptos"/>
              </a:rPr>
              <a:t>вопросы по своим артефактам, коммитам и декларации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2432304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56082"/>
                </a:solidFill>
                <a:latin typeface="Aptos"/>
              </a:rPr>
              <a:t>ЧТО НЕ ГЕНЕРИРУЕТСЯ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788920"/>
            <a:ext cx="5394960" cy="2651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700"/>
              </a:spcAft>
            </a:pPr>
            <a:r>
              <a:rPr sz="1150" b="1" i="0">
                <a:solidFill>
                  <a:srgbClr val="156082"/>
                </a:solidFill>
                <a:latin typeface="Aptos"/>
              </a:rPr>
              <a:t>— </a:t>
            </a:r>
            <a:r>
              <a:rPr sz="1150" b="1" i="0">
                <a:solidFill>
                  <a:srgbClr val="0E2841"/>
                </a:solidFill>
                <a:latin typeface="Aptos"/>
              </a:rPr>
              <a:t>Анализ влияния изменения — </a:t>
            </a:r>
            <a:r>
              <a:rPr sz="1150" b="0" i="0">
                <a:solidFill>
                  <a:srgbClr val="595959"/>
                </a:solidFill>
                <a:latin typeface="Aptos"/>
              </a:rPr>
              <a:t>по своей матрице трассируемости: халтура вскрывается через две недели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156082"/>
                </a:solidFill>
                <a:latin typeface="Aptos"/>
              </a:rPr>
              <a:t>— </a:t>
            </a:r>
            <a:r>
              <a:rPr sz="1150" b="1" i="0">
                <a:solidFill>
                  <a:srgbClr val="0E2841"/>
                </a:solidFill>
                <a:latin typeface="Aptos"/>
              </a:rPr>
              <a:t>Инспекция ИИ-артефакта — </a:t>
            </a:r>
            <a:r>
              <a:rPr sz="1150" b="0" i="0">
                <a:solidFill>
                  <a:srgbClr val="595959"/>
                </a:solidFill>
                <a:latin typeface="Aptos"/>
              </a:rPr>
              <a:t>найти дефекты в намеренно дефектном ТЗ и архитектуре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156082"/>
                </a:solidFill>
                <a:latin typeface="Aptos"/>
              </a:rPr>
              <a:t>— </a:t>
            </a:r>
            <a:r>
              <a:rPr sz="1150" b="1" i="0">
                <a:solidFill>
                  <a:srgbClr val="0E2841"/>
                </a:solidFill>
                <a:latin typeface="Aptos"/>
              </a:rPr>
              <a:t>Вердикт по данным — </a:t>
            </a:r>
            <a:r>
              <a:rPr sz="1150" b="0" i="0">
                <a:solidFill>
                  <a:srgbClr val="595959"/>
                </a:solidFill>
                <a:latin typeface="Aptos"/>
              </a:rPr>
              <a:t>решение о вводе модели в эксплуатацию и ответственность за него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156082"/>
                </a:solidFill>
                <a:latin typeface="Aptos"/>
              </a:rPr>
              <a:t>— </a:t>
            </a:r>
            <a:r>
              <a:rPr sz="1150" b="1" i="0">
                <a:solidFill>
                  <a:srgbClr val="0E2841"/>
                </a:solidFill>
                <a:latin typeface="Aptos"/>
              </a:rPr>
              <a:t>Защита по коммитам — </a:t>
            </a:r>
            <a:r>
              <a:rPr sz="1150" b="0" i="0">
                <a:solidFill>
                  <a:srgbClr val="595959"/>
                </a:solidFill>
                <a:latin typeface="Aptos"/>
              </a:rPr>
              <a:t>вопросы по конкретным изменениям и вводная без подготовки</a:t>
            </a:r>
          </a:p>
          <a:p>
            <a:pPr>
              <a:spcAft>
                <a:spcPts val="700"/>
              </a:spcAft>
            </a:pPr>
            <a:r>
              <a:rPr sz="1150" b="1" i="0">
                <a:solidFill>
                  <a:srgbClr val="156082"/>
                </a:solidFill>
                <a:latin typeface="Aptos"/>
              </a:rPr>
              <a:t>— </a:t>
            </a:r>
            <a:r>
              <a:rPr sz="1150" b="1" i="0">
                <a:solidFill>
                  <a:srgbClr val="0E2841"/>
                </a:solidFill>
                <a:latin typeface="Aptos"/>
              </a:rPr>
              <a:t>Взаимооценка вклада — </a:t>
            </a:r>
            <a:r>
              <a:rPr sz="1150" b="0" i="0">
                <a:solidFill>
                  <a:srgbClr val="595959"/>
                </a:solidFill>
                <a:latin typeface="Aptos"/>
              </a:rPr>
              <a:t>КТУ по трём источникам, а не по числу коммитов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852160"/>
            <a:ext cx="1115568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943600"/>
            <a:ext cx="1078992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2841"/>
                </a:solidFill>
                <a:latin typeface="Aptos"/>
              </a:rPr>
              <a:t>ИИ разрешён и обязателен к декларированию. </a:t>
            </a:r>
            <a:r>
              <a:rPr sz="1200" b="0" i="0">
                <a:solidFill>
                  <a:srgbClr val="595959"/>
                </a:solidFill>
                <a:latin typeface="Aptos"/>
              </a:rPr>
              <a:t>Оценивается контроль над результатом: что проверено, как, и что осталось непроверенным. Веса: КИМ модулей 50 % · проект 30 % · экзамен 20 %, порог 60 баллов по каждому средству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058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"/>
              </a:rPr>
              <a:t>Преподавание современного ИИ на топ-уровне: системное видение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12801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E2841"/>
                </a:solidFill>
                <a:latin typeface="Aptos Display"/>
              </a:rPr>
              <a:t>Состав фонда оценочных средств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89888"/>
            <a:ext cx="1371600" cy="381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45920"/>
            <a:ext cx="2697480" cy="1051560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56082"/>
                </a:solidFill>
                <a:latin typeface="Aptos Display"/>
              </a:rPr>
              <a:t>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488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Aptos"/>
              </a:rPr>
              <a:t>оценочных средств
с рубриками на 100 баллов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19272" y="1645920"/>
            <a:ext cx="2697480" cy="1051560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2" y="17373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56082"/>
                </a:solidFill>
                <a:latin typeface="Aptos Display"/>
              </a:rPr>
              <a:t>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1488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Aptos"/>
              </a:rPr>
              <a:t>материала заданий:
шаблоны, эталоны, данные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35624" y="1645920"/>
            <a:ext cx="2697480" cy="1051560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18504" y="17373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56082"/>
                </a:solidFill>
                <a:latin typeface="Aptos Display"/>
              </a:rPr>
              <a:t>40+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21488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Aptos"/>
              </a:rPr>
              <a:t>вопросов экзамена
и банк вопросов защиты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51976" y="1645920"/>
            <a:ext cx="2697480" cy="1051560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34856" y="1737360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 i="0">
                <a:solidFill>
                  <a:srgbClr val="156082"/>
                </a:solidFill>
                <a:latin typeface="Aptos Display"/>
              </a:rPr>
              <a:t>25+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34856" y="21488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Aptos"/>
              </a:rPr>
              <a:t>стандартов, сверенных
по первоисточникам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88036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56082"/>
                </a:solidFill>
                <a:latin typeface="Aptos"/>
              </a:rPr>
              <a:t>НАИБОЛЕЕ ТРУДОЁМКИЕ ЭЛЕМЕНТЫ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246120"/>
            <a:ext cx="553212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971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3246120"/>
            <a:ext cx="5532120" cy="508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429000"/>
            <a:ext cx="51206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E2841"/>
                </a:solidFill>
                <a:latin typeface="Aptos"/>
              </a:rPr>
              <a:t>Датасет и модель с заложенным дефектом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767328"/>
            <a:ext cx="51206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Aptos"/>
              </a:rPr>
              <a:t>Команда разработки передаёт модель и отчёт с рекомендацией внедрять. Отчёт правдив — и вводит в заблуждение: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31520" y="4297680"/>
          <a:ext cx="5074920" cy="12070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1143000"/>
                <a:gridCol w="11430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ptos"/>
                        </a:rPr>
                        <a:t>Срез / разрез</a:t>
                      </a:r>
                    </a:p>
                  </a:txBody>
                  <a:tcPr marL="73152" marR="54864" marT="27432" marB="27432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ptos"/>
                        </a:rPr>
                        <a:t>Модель</a:t>
                      </a:r>
                    </a:p>
                  </a:txBody>
                  <a:tcPr marL="73152" marR="54864" marT="27432" marB="27432" anchor="ctr">
                    <a:solidFill>
                      <a:srgbClr val="0E2841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 i="0">
                          <a:solidFill>
                            <a:srgbClr val="FFFFFF"/>
                          </a:solidFill>
                          <a:latin typeface="Aptos"/>
                        </a:rPr>
                        <a:t>Baseline</a:t>
                      </a:r>
                    </a:p>
                  </a:txBody>
                  <a:tcPr marL="73152" marR="54864" marT="27432" marB="27432" anchor="ctr">
                    <a:solidFill>
                      <a:srgbClr val="0E2841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Тест — приведён в отчёте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15,4 %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45,9 %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Свежий срез (дрейф)</a:t>
                      </a:r>
                    </a:p>
                  </a:txBody>
                  <a:tcPr marL="73152" marR="54864" marT="27432" marB="27432" anchor="ctr">
                    <a:solidFill>
                      <a:srgbClr val="EF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32,2 %</a:t>
                      </a:r>
                    </a:p>
                  </a:txBody>
                  <a:tcPr marL="73152" marR="54864" marT="27432" marB="27432" anchor="ctr">
                    <a:solidFill>
                      <a:srgbClr val="EFF3F6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62,9 %</a:t>
                      </a:r>
                    </a:p>
                  </a:txBody>
                  <a:tcPr marL="73152" marR="54864" marT="27432" marB="27432" anchor="ctr">
                    <a:solidFill>
                      <a:srgbClr val="EFF3F6"/>
                    </a:solidFill>
                  </a:tcPr>
                </a:tc>
              </a:tr>
              <a:tr h="274320"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Волатильная категория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36,1 %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 i="0">
                          <a:solidFill>
                            <a:srgbClr val="0E2841"/>
                          </a:solidFill>
                          <a:latin typeface="Aptos"/>
                        </a:rPr>
                        <a:t>58,5 %</a:t>
                      </a:r>
                    </a:p>
                  </a:txBody>
                  <a:tcPr marL="73152" marR="54864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TextBox 24"/>
          <p:cNvSpPr txBox="1"/>
          <p:nvPr/>
        </p:nvSpPr>
        <p:spPr>
          <a:xfrm>
            <a:off x="731520" y="550468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0" i="1">
                <a:solidFill>
                  <a:srgbClr val="E97132"/>
                </a:solidFill>
                <a:latin typeface="Aptos"/>
              </a:rPr>
              <a:t>WAPE, ниже — лучше. Дефект виден только вне отчёта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3246120"/>
            <a:ext cx="5394960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263640" y="3246120"/>
            <a:ext cx="5394960" cy="50800"/>
          </a:xfrm>
          <a:prstGeom prst="rect">
            <a:avLst/>
          </a:prstGeom>
          <a:solidFill>
            <a:srgbClr val="1560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92240" y="3429000"/>
            <a:ext cx="49377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50" b="1" i="0">
                <a:solidFill>
                  <a:srgbClr val="0E2841"/>
                </a:solidFill>
                <a:latin typeface="Aptos"/>
              </a:rPr>
              <a:t>Дефектные артефакты и промпты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3767328"/>
            <a:ext cx="493776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 i="0">
                <a:solidFill>
                  <a:srgbClr val="156082"/>
                </a:solidFill>
                <a:latin typeface="Aptos"/>
              </a:rPr>
              <a:t>— </a:t>
            </a:r>
            <a:r>
              <a:rPr sz="1100" b="1" i="0">
                <a:solidFill>
                  <a:srgbClr val="0E2841"/>
                </a:solidFill>
                <a:latin typeface="Aptos"/>
              </a:rPr>
              <a:t>ТЗ и архитектура, сгенерированные LLM — </a:t>
            </a:r>
            <a:r>
              <a:rPr sz="1100" b="0" i="0">
                <a:solidFill>
                  <a:srgbClr val="595959"/>
                </a:solidFill>
                <a:latin typeface="Aptos"/>
              </a:rPr>
              <a:t>дефекты не помечены: инспекция и есть задание</a:t>
            </a:r>
          </a:p>
          <a:p>
            <a:pPr>
              <a:spcAft>
                <a:spcPts val="600"/>
              </a:spcAft>
            </a:pPr>
            <a:r>
              <a:rPr sz="1100" b="1" i="0">
                <a:solidFill>
                  <a:srgbClr val="156082"/>
                </a:solidFill>
                <a:latin typeface="Aptos"/>
              </a:rPr>
              <a:t>— </a:t>
            </a:r>
            <a:r>
              <a:rPr sz="1100" b="1" i="0">
                <a:solidFill>
                  <a:srgbClr val="0E2841"/>
                </a:solidFill>
                <a:latin typeface="Aptos"/>
              </a:rPr>
              <a:t>Промпт-критик требований — </a:t>
            </a:r>
            <a:r>
              <a:rPr sz="1100" b="0" i="0">
                <a:solidFill>
                  <a:srgbClr val="595959"/>
                </a:solidFill>
                <a:latin typeface="Aptos"/>
              </a:rPr>
              <a:t>не исправляет, а задаёт вопросы автору</a:t>
            </a:r>
          </a:p>
          <a:p>
            <a:pPr>
              <a:spcAft>
                <a:spcPts val="600"/>
              </a:spcAft>
            </a:pPr>
            <a:r>
              <a:rPr sz="1100" b="1" i="0">
                <a:solidFill>
                  <a:srgbClr val="156082"/>
                </a:solidFill>
                <a:latin typeface="Aptos"/>
              </a:rPr>
              <a:t>— </a:t>
            </a:r>
            <a:r>
              <a:rPr sz="1100" b="1" i="0">
                <a:solidFill>
                  <a:srgbClr val="0E2841"/>
                </a:solidFill>
                <a:latin typeface="Aptos"/>
              </a:rPr>
              <a:t>Формальный судья для CI — </a:t>
            </a:r>
            <a:r>
              <a:rPr sz="1100" b="0" i="0">
                <a:solidFill>
                  <a:srgbClr val="595959"/>
                </a:solidFill>
                <a:latin typeface="Aptos"/>
              </a:rPr>
              <a:t>строгий JSON, только форма, без содержательной оценки</a:t>
            </a:r>
          </a:p>
          <a:p>
            <a:pPr>
              <a:spcAft>
                <a:spcPts val="600"/>
              </a:spcAft>
            </a:pPr>
            <a:r>
              <a:rPr sz="1100" b="1" i="0">
                <a:solidFill>
                  <a:srgbClr val="156082"/>
                </a:solidFill>
                <a:latin typeface="Aptos"/>
              </a:rPr>
              <a:t>— </a:t>
            </a:r>
            <a:r>
              <a:rPr sz="1100" b="1" i="0">
                <a:solidFill>
                  <a:srgbClr val="0E2841"/>
                </a:solidFill>
                <a:latin typeface="Aptos"/>
              </a:rPr>
              <a:t>Генератор дефектных артефактов — </a:t>
            </a:r>
            <a:r>
              <a:rPr sz="1100" b="0" i="0">
                <a:solidFill>
                  <a:srgbClr val="595959"/>
                </a:solidFill>
                <a:latin typeface="Aptos"/>
              </a:rPr>
              <a:t>новый вариант на поток за минуты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28016"/>
            <a:ext cx="100584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Aptos"/>
              </a:rPr>
              <a:t>Преподавание современного ИИ на топ-уровне: системное видение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4415" y="128016"/>
            <a:ext cx="6400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Apto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0E2841"/>
                </a:solidFill>
                <a:latin typeface="Aptos Display"/>
              </a:rPr>
              <a:t>Репозиторий как цифровой продукт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89888"/>
            <a:ext cx="1371600" cy="38100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56082"/>
                </a:solidFill>
                <a:latin typeface="Aptos"/>
              </a:rPr>
              <a:t>ГДЕ ЧТО ЛЕЖИТ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56082"/>
                </a:solidFill>
                <a:latin typeface="Consolas"/>
              </a:rPr>
              <a:t>docs/  </a:t>
            </a:r>
            <a:r>
              <a:rPr sz="1100" b="0" i="0">
                <a:solidFill>
                  <a:srgbClr val="595959"/>
                </a:solidFill>
                <a:latin typeface="Aptos"/>
              </a:rPr>
              <a:t>РПД, система оценивания, чек-лист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5915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56082"/>
                </a:solidFill>
                <a:latin typeface="Consolas"/>
              </a:rPr>
              <a:t>M1…M4/  </a:t>
            </a:r>
            <a:r>
              <a:rPr sz="1100" b="0" i="0">
                <a:solidFill>
                  <a:srgbClr val="595959"/>
                </a:solidFill>
                <a:latin typeface="Aptos"/>
              </a:rPr>
              <a:t>КИМ + attachments: шаблоны, данные, эталоны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706624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56082"/>
                </a:solidFill>
                <a:latin typeface="Consolas"/>
              </a:rPr>
              <a:t>Project/  Exam/  </a:t>
            </a:r>
            <a:r>
              <a:rPr sz="1100" b="0" i="0">
                <a:solidFill>
                  <a:srgbClr val="595959"/>
                </a:solidFill>
                <a:latin typeface="Aptos"/>
              </a:rPr>
              <a:t>проект, формы, билеты, банк вопросов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054096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56082"/>
                </a:solidFill>
                <a:latin typeface="Consolas"/>
              </a:rPr>
              <a:t>resources/  </a:t>
            </a:r>
            <a:r>
              <a:rPr sz="1100" b="0" i="0">
                <a:solidFill>
                  <a:srgbClr val="595959"/>
                </a:solidFill>
                <a:latin typeface="Aptos"/>
              </a:rPr>
              <a:t>стандарты, ПО, промпты, датасеты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3401568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56082"/>
                </a:solidFill>
                <a:latin typeface="Consolas"/>
              </a:rPr>
              <a:t>tools/  </a:t>
            </a:r>
            <a:r>
              <a:rPr sz="1100" b="0" i="0">
                <a:solidFill>
                  <a:srgbClr val="595959"/>
                </a:solidFill>
                <a:latin typeface="Aptos"/>
              </a:rPr>
              <a:t>собственные инструменты сопровождения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7490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56082"/>
                </a:solidFill>
                <a:latin typeface="Consolas"/>
              </a:rPr>
              <a:t>.github/workflows/  </a:t>
            </a:r>
            <a:r>
              <a:rPr sz="1100" b="0" i="0">
                <a:solidFill>
                  <a:srgbClr val="595959"/>
                </a:solidFill>
                <a:latin typeface="Aptos"/>
              </a:rPr>
              <a:t>автопроверка при каждом изменении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09651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156082"/>
                </a:solidFill>
                <a:latin typeface="Consolas"/>
              </a:rPr>
              <a:t>teacher-private/  </a:t>
            </a:r>
            <a:r>
              <a:rPr sz="1100" b="0" i="0">
                <a:solidFill>
                  <a:srgbClr val="595959"/>
                </a:solidFill>
                <a:latin typeface="Aptos"/>
              </a:rPr>
              <a:t>закрытые эталоны — вне публикации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6459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156082"/>
                </a:solidFill>
                <a:latin typeface="Aptos"/>
              </a:rPr>
              <a:t>ЧТО СДЕЛАНО ДЛЯ УДОБСТВА РАБОТЫ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2011680"/>
            <a:ext cx="5394960" cy="841248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63640" y="2011680"/>
            <a:ext cx="50800" cy="8412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21031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2841"/>
                </a:solidFill>
                <a:latin typeface="Consolas"/>
              </a:rPr>
              <a:t>validate_fos.py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3774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Aptos"/>
              </a:rPr>
              <a:t>471 проверка: ссылки, суммы баллов рубрик, веса, покрытие индикаторов, единство шкал, часы РПД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63640" y="2926080"/>
            <a:ext cx="5394960" cy="841248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63640" y="2926080"/>
            <a:ext cx="50800" cy="8412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0175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2841"/>
                </a:solidFill>
                <a:latin typeface="Consolas"/>
              </a:rPr>
              <a:t>generate_dataset.py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2918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Aptos"/>
              </a:rPr>
              <a:t>варианты данных и модели: --defect drift | subgroup | leakage | shift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840480"/>
            <a:ext cx="5394960" cy="841248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63640" y="3840480"/>
            <a:ext cx="50800" cy="8412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39319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2841"/>
                </a:solidFill>
                <a:latin typeface="Consolas"/>
              </a:rPr>
              <a:t>ktu_calc.py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42062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Aptos"/>
              </a:rPr>
              <a:t>коэффициент трудового участия по формам взаимооценки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4754880"/>
            <a:ext cx="5394960" cy="841248"/>
          </a:xfrm>
          <a:prstGeom prst="rect">
            <a:avLst/>
          </a:prstGeom>
          <a:solidFill>
            <a:srgbClr val="EFF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63640" y="4754880"/>
            <a:ext cx="50800" cy="841248"/>
          </a:xfrm>
          <a:prstGeom prst="rect">
            <a:avLst/>
          </a:prstGeom>
          <a:solidFill>
            <a:srgbClr val="E971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92240" y="484632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0E2841"/>
                </a:solidFill>
                <a:latin typeface="Consolas"/>
              </a:rPr>
              <a:t>ci-check.py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92240" y="5120640"/>
            <a:ext cx="5029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595959"/>
                </a:solidFill>
                <a:latin typeface="Aptos"/>
              </a:rPr>
              <a:t>студент проверяет свою работу до сдачи, преподаватель не читает недоделанное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617720"/>
            <a:ext cx="553212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1560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475488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E2841"/>
                </a:solidFill>
                <a:latin typeface="Aptos"/>
              </a:rPr>
              <a:t>Всё ведётся как код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074920"/>
            <a:ext cx="51206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595959"/>
                </a:solidFill>
                <a:latin typeface="Aptos"/>
              </a:rPr>
              <a:t>Markdown + PlantUML + git. История показывает процесс, дифф делает изменение предметом защиты, pull request превращает ревью в оценочное средство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897880"/>
            <a:ext cx="11155680" cy="621792"/>
          </a:xfrm>
          <a:prstGeom prst="rect">
            <a:avLst/>
          </a:prstGeom>
          <a:solidFill>
            <a:srgbClr val="0E28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1520" y="6035040"/>
            <a:ext cx="107899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50" b="1" i="0">
                <a:solidFill>
                  <a:srgbClr val="E97132"/>
                </a:solidFill>
                <a:latin typeface="Aptos"/>
              </a:rPr>
              <a:t>Готово к использованию:  </a:t>
            </a:r>
            <a:r>
              <a:rPr sz="1250" b="0" i="0">
                <a:solidFill>
                  <a:srgbClr val="FFFFFF"/>
                </a:solidFill>
                <a:latin typeface="Aptos"/>
              </a:rPr>
              <a:t>12 из 13 пунктов чек-листа закрыто · лицензия CC BY 4.0 · модули переиспользуются в курсах по требованиям, архитектуре ИИ и MLOps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